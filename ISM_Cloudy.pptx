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6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7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8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9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20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82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650.xml" ContentType="application/vnd.openxmlformats-officedocument.presentationml.tags+xml"/>
  <Override PartName="/ppt/tags/tag8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4" r:id="rId9"/>
    <p:sldId id="275" r:id="rId10"/>
    <p:sldId id="276" r:id="rId11"/>
    <p:sldId id="277" r:id="rId12"/>
    <p:sldId id="273" r:id="rId13"/>
    <p:sldId id="278" r:id="rId14"/>
    <p:sldId id="279" r:id="rId15"/>
    <p:sldId id="272" r:id="rId16"/>
    <p:sldId id="282" r:id="rId17"/>
    <p:sldId id="265" r:id="rId18"/>
    <p:sldId id="266" r:id="rId19"/>
    <p:sldId id="267" r:id="rId20"/>
    <p:sldId id="268" r:id="rId21"/>
    <p:sldId id="269" r:id="rId22"/>
    <p:sldId id="270" r:id="rId23"/>
    <p:sldId id="284" r:id="rId24"/>
    <p:sldId id="257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6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2" autoAdjust="0"/>
    <p:restoredTop sz="86190"/>
  </p:normalViewPr>
  <p:slideViewPr>
    <p:cSldViewPr snapToGrid="0" showGuides="1">
      <p:cViewPr varScale="1">
        <p:scale>
          <a:sx n="109" d="100"/>
          <a:sy n="109" d="100"/>
        </p:scale>
        <p:origin x="976" y="192"/>
      </p:cViewPr>
      <p:guideLst>
        <p:guide orient="horz" pos="2160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Times New Roman" panose="02020503050405090304" charset="0"/>
              <a:ea typeface="Times New Roman" panose="020205030504050903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Times New Roman" panose="02020503050405090304" charset="0"/>
                <a:ea typeface="Times New Roman" panose="02020503050405090304" charset="0"/>
              </a:rPr>
              <a:t>2026/1/1</a:t>
            </a:fld>
            <a:endParaRPr lang="zh-CN" altLang="en-US">
              <a:latin typeface="Times New Roman" panose="02020503050405090304" charset="0"/>
              <a:ea typeface="Times New Roman" panose="0202050305040509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Times New Roman" panose="02020503050405090304" charset="0"/>
              <a:ea typeface="Times New Roman" panose="0202050305040509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Times New Roman" panose="02020503050405090304" charset="0"/>
                <a:ea typeface="Times New Roman" panose="02020503050405090304" charset="0"/>
              </a:rPr>
              <a:t>‹#›</a:t>
            </a:fld>
            <a:endParaRPr lang="zh-CN" altLang="en-US">
              <a:latin typeface="Times New Roman" panose="02020503050405090304" charset="0"/>
              <a:ea typeface="Times New Roman" panose="0202050305040509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503050405090304" charset="0"/>
                <a:ea typeface="Times New Roman" panose="020205030504050903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503050405090304" charset="0"/>
                <a:ea typeface="Times New Roman" panose="0202050305040509030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503050405090304" charset="0"/>
                <a:ea typeface="Times New Roman" panose="020205030504050903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503050405090304" charset="0"/>
                <a:ea typeface="Times New Roman" panose="0202050305040509030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503050405090304" charset="0"/>
        <a:ea typeface="Times New Roman" panose="0202050305040509030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503050405090304" charset="0"/>
        <a:ea typeface="Times New Roman" panose="0202050305040509030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503050405090304" charset="0"/>
        <a:ea typeface="Times New Roman" panose="0202050305040509030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503050405090304" charset="0"/>
        <a:ea typeface="Times New Roman" panose="0202050305040509030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503050405090304" charset="0"/>
        <a:ea typeface="Times New Roman" panose="0202050305040509030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072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lang="zh-CN" altLang="en-US" b="0" dirty="0"/>
              <a:t>“冷却”的核心含义是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ISM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中的电子损失了动能</a:t>
            </a:r>
            <a:r>
              <a:rPr lang="zh-CN" altLang="en-US" b="0" dirty="0"/>
              <a:t>，并将能量以光子的形式辐射出去或转化为其他形式能量时，整个系统的温度就会下降</a:t>
            </a:r>
            <a:endParaRPr kumimoji="1" lang="en-US" altLang="zh-CN" b="0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free-free</a:t>
            </a:r>
            <a:r>
              <a:rPr kumimoji="1" lang="zh-CN" altLang="en-US" dirty="0"/>
              <a:t>过程，也叫做韧致辐射</a:t>
            </a:r>
            <a:r>
              <a:rPr kumimoji="1" lang="en-US" altLang="zh-CN" dirty="0"/>
              <a:t>bremsstrahlung</a:t>
            </a:r>
            <a:r>
              <a:rPr kumimoji="1" lang="zh-CN" altLang="en-US" dirty="0"/>
              <a:t>，</a:t>
            </a:r>
            <a:r>
              <a:rPr lang="zh-CN" altLang="en-US" dirty="0"/>
              <a:t>自由电子在飞过一个离子或者电子附近时，受到离子电场的吸引而发生偏转和减速，根据电动力学，</a:t>
            </a:r>
            <a:r>
              <a:rPr lang="zh-CN" altLang="en-US" b="0" dirty="0"/>
              <a:t>带电粒子在减速时会辐射电磁波，</a:t>
            </a:r>
            <a:r>
              <a:rPr lang="zh-CN" altLang="en-US" dirty="0"/>
              <a:t>在这里，自由电子因为减速而损失了一部分动能，这部分能量变成光子发射出去。根据一些复杂的公式计算，得到总功率正比电子温度的</a:t>
            </a:r>
            <a:r>
              <a:rPr lang="en-US" altLang="zh-CN" dirty="0"/>
              <a:t>1/2</a:t>
            </a:r>
            <a:r>
              <a:rPr lang="zh-CN" altLang="en-US" dirty="0"/>
              <a:t>次方，在高温下时主导过程，比如</a:t>
            </a:r>
            <a:r>
              <a:rPr lang="en-US" altLang="zh-CN" dirty="0"/>
              <a:t>cluster</a:t>
            </a:r>
            <a:r>
              <a:rPr lang="zh-CN" altLang="en-US" dirty="0"/>
              <a:t>内部的</a:t>
            </a:r>
            <a:r>
              <a:rPr lang="en-US" altLang="zh-CN" dirty="0"/>
              <a:t>ICM</a:t>
            </a:r>
          </a:p>
          <a:p>
            <a:r>
              <a:rPr kumimoji="1" lang="en-US" altLang="zh-CN" b="0" dirty="0"/>
              <a:t>3.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free-bound</a:t>
            </a:r>
            <a:r>
              <a:rPr kumimoji="1" lang="zh-CN" altLang="en-US" b="0" dirty="0"/>
              <a:t>：也就是</a:t>
            </a:r>
            <a:r>
              <a:rPr kumimoji="1" lang="en-US" altLang="zh-CN" b="0" dirty="0"/>
              <a:t>recombination</a:t>
            </a:r>
            <a:r>
              <a:rPr kumimoji="1" lang="zh-CN" altLang="en-US" b="0" dirty="0"/>
              <a:t>过程，自由电子被离子俘获变成束缚电子，释放光子，一般</a:t>
            </a:r>
            <a:r>
              <a:rPr lang="zh-CN" altLang="en-US" dirty="0"/>
              <a:t>当温度适中，且气体密度较高时，复合辐射才会变得显著，比如</a:t>
            </a:r>
            <a:r>
              <a:rPr lang="en-US" altLang="zh-CN" dirty="0"/>
              <a:t>HII</a:t>
            </a:r>
            <a:r>
              <a:rPr lang="zh-CN" altLang="en-US" dirty="0"/>
              <a:t>区</a:t>
            </a:r>
            <a:endParaRPr kumimoji="1" lang="en-US" altLang="zh-CN" b="0" dirty="0"/>
          </a:p>
          <a:p>
            <a:r>
              <a:rPr kumimoji="1" lang="en-US" altLang="zh-CN" b="0" dirty="0"/>
              <a:t>4.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bound-free</a:t>
            </a:r>
            <a:r>
              <a:rPr kumimoji="1" lang="zh-CN" altLang="en-US" b="0" dirty="0"/>
              <a:t>：碰撞电离，比如激波</a:t>
            </a:r>
            <a:endParaRPr kumimoji="1" lang="en-US" altLang="zh-CN" b="0" dirty="0"/>
          </a:p>
          <a:p>
            <a:r>
              <a:rPr kumimoji="1" lang="en-US" altLang="zh-CN" b="0" dirty="0"/>
              <a:t>5.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bound-bound</a:t>
            </a:r>
            <a:r>
              <a:rPr kumimoji="1" lang="zh-CN" altLang="en-US" b="0" dirty="0"/>
              <a:t>：碰撞激发，自发辐射出光子，比如禁线</a:t>
            </a:r>
            <a:endParaRPr kumimoji="1" lang="en-US" altLang="zh-CN" b="0" dirty="0"/>
          </a:p>
          <a:p>
            <a:r>
              <a:rPr kumimoji="1" lang="en-US" altLang="zh-CN" b="0" dirty="0"/>
              <a:t>6.</a:t>
            </a:r>
            <a:r>
              <a:rPr kumimoji="1" lang="zh-CN" altLang="en-US" b="0" dirty="0"/>
              <a:t> 注意是一个两体相互作用的过程，主要是自由电子和其他粒子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3861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体积冷却率：指单位体积的气体在单位时间内损失掉的热能量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冷却函数：一对</a:t>
            </a:r>
            <a:r>
              <a:rPr lang="zh-CN" altLang="en-US" dirty="0"/>
              <a:t>粒子冷却率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dirty="0"/>
              <a:t>图中展示的事</a:t>
            </a:r>
            <a:r>
              <a:rPr kumimoji="1" lang="en-US" altLang="zh-CN" dirty="0"/>
              <a:t>cloudy</a:t>
            </a:r>
            <a:r>
              <a:rPr kumimoji="1" lang="zh-CN" altLang="en-US" dirty="0"/>
              <a:t>手册中展示的一个低密度气体的</a:t>
            </a:r>
            <a:r>
              <a:rPr kumimoji="1" lang="en-US" altLang="zh-CN" dirty="0"/>
              <a:t>cooling</a:t>
            </a:r>
            <a:r>
              <a:rPr kumimoji="1" lang="zh-CN" altLang="en-US" dirty="0"/>
              <a:t>和</a:t>
            </a:r>
            <a:r>
              <a:rPr kumimoji="1" lang="en-US" altLang="zh-CN" dirty="0"/>
              <a:t>heating</a:t>
            </a:r>
            <a:r>
              <a:rPr kumimoji="1" lang="zh-CN" altLang="en-US" dirty="0"/>
              <a:t>，交点就代表热平衡点，可以看到</a:t>
            </a:r>
            <a:r>
              <a:rPr kumimoji="1" lang="en-US" altLang="zh-CN" dirty="0"/>
              <a:t>Cloudy</a:t>
            </a:r>
            <a:r>
              <a:rPr kumimoji="1" lang="zh-CN" altLang="en-US" dirty="0"/>
              <a:t>中使用体积冷却率，因此还需要除以</a:t>
            </a:r>
            <a:r>
              <a:rPr kumimoji="1" lang="en-US" altLang="zh-CN" dirty="0" err="1"/>
              <a:t>nenH</a:t>
            </a:r>
            <a:r>
              <a:rPr kumimoji="1" lang="zh-CN" altLang="en-US" dirty="0"/>
              <a:t>做一个归一化处理</a:t>
            </a: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6076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1D6D-6987-9EC4-CD52-DF70C55B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85D161-175F-A45F-4845-2673E67F9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9B9113-47B5-0735-7CF0-8A83E0041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photoionization code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可以模拟很多条件下的辐射转移过程，生成光谱等等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图中展示的是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对英仙座星系团外部区域的模拟精细结构光谱，分辨率可以达到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</a:t>
            </a:r>
            <a:endParaRPr kumimoji="1"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4C84C7-0D6B-D383-5775-11D5B3347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0664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D70A-6BF8-DBC3-4569-414D0F0C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FCEB74-5D04-61B6-40C8-A8B3E7418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C848E3-B4DC-AD0C-67A6-DAA5434B5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dirty="0"/>
              <a:t>辐射场包括</a:t>
            </a:r>
            <a:r>
              <a:rPr lang="zh-CN" altLang="en-US" dirty="0"/>
              <a:t>中心天体发出的、照射到云的受照面上的外部入射辐射场；星云内部的气体和尘埃发射的</a:t>
            </a:r>
            <a:r>
              <a:rPr lang="en-US" altLang="zh-CN" dirty="0"/>
              <a:t>diffuse</a:t>
            </a:r>
            <a:r>
              <a:rPr lang="zh-CN" altLang="en-US" dirty="0"/>
              <a:t>辐射场；经过云层后射出的</a:t>
            </a:r>
            <a:r>
              <a:rPr lang="en-US" altLang="zh-CN" dirty="0"/>
              <a:t>transmitted</a:t>
            </a:r>
            <a:r>
              <a:rPr lang="zh-CN" altLang="en-US" dirty="0"/>
              <a:t>净辐射；从云层受照面反射回源方向的</a:t>
            </a:r>
            <a:r>
              <a:rPr lang="en-US" altLang="zh-CN" dirty="0"/>
              <a:t>reflected</a:t>
            </a:r>
            <a:r>
              <a:rPr lang="zh-CN" altLang="en-US" dirty="0"/>
              <a:t>辐射</a:t>
            </a:r>
          </a:p>
          <a:p>
            <a:pPr marL="228600" indent="-228600">
              <a:buAutoNum type="arabicPeriod"/>
            </a:pPr>
            <a:r>
              <a:rPr kumimoji="1" lang="zh-CN" altLang="en-US" dirty="0"/>
              <a:t>化学成分，可以处理前</a:t>
            </a:r>
            <a:r>
              <a:rPr kumimoji="1" lang="en-US" altLang="zh-CN" dirty="0"/>
              <a:t>30</a:t>
            </a:r>
            <a:r>
              <a:rPr kumimoji="1" lang="zh-CN" altLang="en-US" dirty="0"/>
              <a:t>种元素一直到</a:t>
            </a:r>
            <a:r>
              <a:rPr kumimoji="1" lang="en-US" altLang="zh-CN" dirty="0"/>
              <a:t>Zn</a:t>
            </a:r>
            <a:r>
              <a:rPr kumimoji="1" lang="zh-CN" altLang="en-US" dirty="0"/>
              <a:t>，以及所有的电离态，包括分子和尘埃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设定</a:t>
            </a:r>
            <a:r>
              <a:rPr kumimoji="1" lang="en-US" altLang="zh-CN" dirty="0"/>
              <a:t>H</a:t>
            </a:r>
            <a:r>
              <a:rPr kumimoji="1" lang="zh-CN" altLang="en-US" dirty="0"/>
              <a:t>的密度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几何形状，可以是开放的，也可以是球状的，不过只有很小的影响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输出可以有光谱和</a:t>
            </a:r>
            <a:r>
              <a:rPr kumimoji="1" lang="en-US" altLang="zh-CN" dirty="0"/>
              <a:t>SED</a:t>
            </a:r>
            <a:r>
              <a:rPr kumimoji="1" lang="zh-CN" altLang="en-US" dirty="0"/>
              <a:t>，物理参数比如密度，还有冷却函数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205E23-0A78-C2F8-C431-8AA392924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5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5797-C018-66F1-7D69-A120EF01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95083F-86EE-C4F1-171C-7A72D955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003D3C-0620-E0A2-E1BA-E44F8F1E9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en-US" altLang="zh-CN" dirty="0"/>
              <a:t>cloudy</a:t>
            </a:r>
            <a:r>
              <a:rPr kumimoji="1" lang="zh-CN" altLang="en-US" dirty="0"/>
              <a:t>计算原理是分</a:t>
            </a:r>
            <a:r>
              <a:rPr kumimoji="1" lang="en-US" altLang="zh-CN" dirty="0"/>
              <a:t>zone</a:t>
            </a:r>
            <a:r>
              <a:rPr kumimoji="1" lang="zh-CN" altLang="en-US" dirty="0"/>
              <a:t>的，辐射到受照面，求解完第一个</a:t>
            </a:r>
            <a:r>
              <a:rPr kumimoji="1" lang="en-US" altLang="zh-CN" dirty="0"/>
              <a:t>zone</a:t>
            </a:r>
            <a:r>
              <a:rPr kumimoji="1" lang="zh-CN" altLang="en-US" dirty="0"/>
              <a:t>中物理状态后，计算衰减后的辐射，传到第二个</a:t>
            </a:r>
            <a:r>
              <a:rPr kumimoji="1" lang="en-US" altLang="zh-CN" dirty="0"/>
              <a:t>zone</a:t>
            </a:r>
            <a:r>
              <a:rPr kumimoji="1" lang="zh-CN" altLang="en-US" dirty="0"/>
              <a:t>，依次直到最后，在每个</a:t>
            </a:r>
            <a:r>
              <a:rPr kumimoji="1" lang="en-US" altLang="zh-CN" dirty="0"/>
              <a:t>zone</a:t>
            </a:r>
            <a:r>
              <a:rPr kumimoji="1" lang="zh-CN" altLang="en-US" dirty="0"/>
              <a:t>中迭代计算电离平衡，热平衡，计算布居数，最终得到温度、线强度等信息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如果指定温度，就不会有热平衡，只是计算给定输入条件下的冷却和加热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计算第一层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7F75F-3DBB-28CD-6986-24B2F6591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8104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E92D-BB76-03CD-8BAE-4D75B79F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F71368-B4A3-388C-ECC2-3D8D193BF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F5EBF3-7375-9B84-2746-0BA8A8EAF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C1C5DD-7AEC-C897-44B4-D6E9E3810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0134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A11D-F416-95D9-812E-4E245C2D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98AD64-4160-2E6F-864E-E3546E60D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667DC9-8B24-C187-A43F-7A5EC0CC0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右边展示的是目前认为的</a:t>
            </a:r>
            <a:r>
              <a:rPr kumimoji="1" lang="en-US" altLang="zh-CN" dirty="0"/>
              <a:t>AGN</a:t>
            </a:r>
            <a:r>
              <a:rPr kumimoji="1" lang="zh-CN" altLang="en-US" dirty="0"/>
              <a:t>统一模型，中间是一个超大质量黑洞，周围是气体区域和尘埃环，不同视角导致看到的</a:t>
            </a:r>
            <a:r>
              <a:rPr kumimoji="1" lang="en-US" altLang="zh-CN" dirty="0"/>
              <a:t>AGN</a:t>
            </a:r>
            <a:r>
              <a:rPr kumimoji="1" lang="zh-CN" altLang="en-US" dirty="0"/>
              <a:t>类型不一样，</a:t>
            </a:r>
            <a:r>
              <a:rPr kumimoji="1" lang="en-US" altLang="zh-CN" dirty="0"/>
              <a:t>AGN</a:t>
            </a:r>
            <a:r>
              <a:rPr kumimoji="1" lang="zh-CN" altLang="en-US" dirty="0"/>
              <a:t>的宽线区是在中心黑洞附近，高密度，无尘埃的气体云，有很高的速度多普勒效应显著，能观测到宽发射线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典型的性质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22676-F417-E06B-A99C-274D78B6D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6400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37157-5618-3027-521D-049C813E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26A47F-18DB-5CD7-2DC6-58BC7A1DF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7C06BD-BBBC-5B0A-B1F5-744310E38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首先对</a:t>
            </a:r>
            <a:r>
              <a:rPr kumimoji="1" lang="en-US" altLang="zh-CN" dirty="0"/>
              <a:t>BLR</a:t>
            </a:r>
            <a:r>
              <a:rPr kumimoji="1" lang="zh-CN" altLang="en-US" dirty="0"/>
              <a:t>内不同深度做了一个模拟，左边这个是不同深度的连续谱，黑色的是</a:t>
            </a:r>
            <a:r>
              <a:rPr kumimoji="1" lang="en-US" altLang="zh-CN" dirty="0"/>
              <a:t>BLR</a:t>
            </a:r>
            <a:r>
              <a:rPr kumimoji="1" lang="zh-CN" altLang="en-US" dirty="0"/>
              <a:t>表面，红色的是</a:t>
            </a:r>
            <a:r>
              <a:rPr kumimoji="1" lang="en-US" altLang="zh-CN" dirty="0"/>
              <a:t>…,</a:t>
            </a:r>
            <a:r>
              <a:rPr kumimoji="1" lang="zh-CN" altLang="en-US" dirty="0"/>
              <a:t> 蓝色的是</a:t>
            </a:r>
            <a:r>
              <a:rPr kumimoji="1" lang="en-US" altLang="zh-CN" dirty="0"/>
              <a:t>…AGN</a:t>
            </a:r>
            <a:r>
              <a:rPr kumimoji="1" lang="zh-CN" altLang="en-US" dirty="0"/>
              <a:t>典型的</a:t>
            </a:r>
            <a:r>
              <a:rPr kumimoji="1" lang="en-US" altLang="zh-CN" dirty="0"/>
              <a:t>SED</a:t>
            </a:r>
            <a:r>
              <a:rPr kumimoji="1" lang="zh-CN" altLang="en-US" dirty="0"/>
              <a:t>有两个峰，</a:t>
            </a:r>
            <a:r>
              <a:rPr kumimoji="1" lang="en-US" altLang="zh-CN" dirty="0"/>
              <a:t>X-ray</a:t>
            </a:r>
            <a:r>
              <a:rPr kumimoji="1" lang="zh-CN" altLang="en-US" dirty="0"/>
              <a:t>紫外光学波段，来自吸积盘的辐射，红外来自尘埃环的辐射。在</a:t>
            </a:r>
            <a:r>
              <a:rPr kumimoji="1" lang="en-US" altLang="zh-CN" dirty="0"/>
              <a:t>BLR</a:t>
            </a:r>
            <a:r>
              <a:rPr kumimoji="1" lang="zh-CN" altLang="en-US" dirty="0"/>
              <a:t>中经过比较短的距离大概</a:t>
            </a:r>
            <a:r>
              <a:rPr kumimoji="1" lang="en-US" altLang="zh-CN" dirty="0"/>
              <a:t>1000km</a:t>
            </a:r>
            <a:r>
              <a:rPr kumimoji="1" lang="zh-CN" altLang="en-US" dirty="0"/>
              <a:t>后，长波略微增强，经过大概</a:t>
            </a:r>
            <a:r>
              <a:rPr kumimoji="1" lang="en-US" altLang="zh-CN" dirty="0"/>
              <a:t>1AU</a:t>
            </a:r>
            <a:r>
              <a:rPr kumimoji="1" lang="zh-CN" altLang="en-US" dirty="0"/>
              <a:t>后，还有明显的短波削弱，伴有发射线和吸收线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右边是他们的加热和冷却函数，表面和</a:t>
            </a:r>
            <a:r>
              <a:rPr kumimoji="1" lang="en-US" altLang="zh-CN" dirty="0"/>
              <a:t>1000km</a:t>
            </a:r>
            <a:r>
              <a:rPr kumimoji="1" lang="zh-CN" altLang="en-US" dirty="0"/>
              <a:t>的基本重合，平衡温度在</a:t>
            </a:r>
            <a:r>
              <a:rPr kumimoji="1" lang="en-US" altLang="zh-CN" dirty="0"/>
              <a:t>1e4</a:t>
            </a:r>
            <a:r>
              <a:rPr kumimoji="1" lang="zh-CN" altLang="en-US" dirty="0"/>
              <a:t>左右，和典型值差不多</a:t>
            </a:r>
            <a:r>
              <a:rPr kumimoji="1" lang="en-US" altLang="zh-CN" dirty="0"/>
              <a:t>,</a:t>
            </a:r>
            <a:r>
              <a:rPr kumimoji="1" lang="zh-CN" altLang="en-US" dirty="0"/>
              <a:t> 随着距离增加平衡温度减小，主要区别在低温区域有一个额外的凸起，再低温度算不出来结果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8637FE-A13A-AF77-EF9E-E3E5B35B8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645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D65F-62F4-8B3F-8841-6C377A4C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776FD-2D08-0B48-1C38-4876F6746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64B02B-6428-9EF6-DB9C-B1D99690F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这个是较深距离的各成分冷却贡献，在</a:t>
            </a:r>
            <a:r>
              <a:rPr kumimoji="1" lang="en-US" altLang="zh-CN" dirty="0"/>
              <a:t>1e4K</a:t>
            </a:r>
            <a:r>
              <a:rPr kumimoji="1" lang="zh-CN" altLang="en-US" dirty="0"/>
              <a:t>，主要是</a:t>
            </a:r>
            <a:r>
              <a:rPr kumimoji="1" lang="en-US" altLang="zh-CN" dirty="0"/>
              <a:t>H</a:t>
            </a:r>
            <a:r>
              <a:rPr kumimoji="1" lang="zh-CN" altLang="en-US" dirty="0"/>
              <a:t>和</a:t>
            </a:r>
            <a:r>
              <a:rPr kumimoji="1" lang="en-US" altLang="zh-CN" dirty="0"/>
              <a:t>Mg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1e5</a:t>
            </a:r>
            <a:r>
              <a:rPr kumimoji="1" lang="zh-CN" altLang="en-US" dirty="0"/>
              <a:t> </a:t>
            </a:r>
            <a:r>
              <a:rPr kumimoji="1" lang="en-US" altLang="zh-CN" dirty="0"/>
              <a:t>K</a:t>
            </a:r>
            <a:r>
              <a:rPr kumimoji="1" lang="zh-CN" altLang="en-US" dirty="0"/>
              <a:t>主要是</a:t>
            </a:r>
            <a:r>
              <a:rPr kumimoji="1" lang="en-US" altLang="zh-CN" dirty="0"/>
              <a:t>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O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1e6K</a:t>
            </a:r>
            <a:r>
              <a:rPr kumimoji="1" lang="zh-CN" altLang="en-US" dirty="0"/>
              <a:t>主要是</a:t>
            </a:r>
            <a:r>
              <a:rPr kumimoji="1" lang="en-US" altLang="zh-CN" dirty="0"/>
              <a:t>Fe</a:t>
            </a:r>
            <a:r>
              <a:rPr kumimoji="1" lang="zh-CN" altLang="en-US" dirty="0"/>
              <a:t>，再高就是</a:t>
            </a:r>
            <a:r>
              <a:rPr kumimoji="1" lang="en-US" altLang="zh-CN" dirty="0"/>
              <a:t>ff</a:t>
            </a:r>
          </a:p>
          <a:p>
            <a:pPr marL="228600" indent="-228600">
              <a:buAutoNum type="arabicPeriod"/>
            </a:pPr>
            <a:r>
              <a:rPr kumimoji="1" lang="zh-CN" altLang="en-US" dirty="0"/>
              <a:t>高密度，由于碰撞退激发，基本没有禁线；不同温度段对应不同的发射线，温度太高的话全部碰撞电离了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太浅深度导致全被电离了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F9B9C-A963-E24F-090A-1E23672E3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3450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EAC2-756F-A0D4-0F02-88FCC48A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233EFE-964D-A0F2-88FD-8D0158C70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12B314-1AF1-748A-874A-E9FB9B4B7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这个是较深距离的各成分冷却贡献，在</a:t>
            </a:r>
            <a:r>
              <a:rPr kumimoji="1" lang="en-US" altLang="zh-CN" dirty="0"/>
              <a:t>1e4K</a:t>
            </a:r>
            <a:r>
              <a:rPr kumimoji="1" lang="zh-CN" altLang="en-US" dirty="0"/>
              <a:t>，主要是</a:t>
            </a:r>
            <a:r>
              <a:rPr kumimoji="1" lang="en-US" altLang="zh-CN" dirty="0"/>
              <a:t>H</a:t>
            </a:r>
            <a:r>
              <a:rPr kumimoji="1" lang="zh-CN" altLang="en-US" dirty="0"/>
              <a:t>和</a:t>
            </a:r>
            <a:r>
              <a:rPr kumimoji="1" lang="en-US" altLang="zh-CN" dirty="0"/>
              <a:t>Mg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1e5</a:t>
            </a:r>
            <a:r>
              <a:rPr kumimoji="1" lang="zh-CN" altLang="en-US" dirty="0"/>
              <a:t> </a:t>
            </a:r>
            <a:r>
              <a:rPr kumimoji="1" lang="en-US" altLang="zh-CN" dirty="0"/>
              <a:t>K</a:t>
            </a:r>
            <a:r>
              <a:rPr kumimoji="1" lang="zh-CN" altLang="en-US" dirty="0"/>
              <a:t>主要是</a:t>
            </a:r>
            <a:r>
              <a:rPr kumimoji="1" lang="en-US" altLang="zh-CN" dirty="0"/>
              <a:t>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O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1e6K</a:t>
            </a:r>
            <a:r>
              <a:rPr kumimoji="1" lang="zh-CN" altLang="en-US" dirty="0"/>
              <a:t>主要是</a:t>
            </a:r>
            <a:r>
              <a:rPr kumimoji="1" lang="en-US" altLang="zh-CN" dirty="0"/>
              <a:t>Fe</a:t>
            </a:r>
            <a:r>
              <a:rPr kumimoji="1" lang="zh-CN" altLang="en-US" dirty="0"/>
              <a:t>，再高就是</a:t>
            </a:r>
            <a:r>
              <a:rPr kumimoji="1" lang="en-US" altLang="zh-CN" dirty="0"/>
              <a:t>ff</a:t>
            </a:r>
          </a:p>
          <a:p>
            <a:pPr marL="228600" indent="-228600">
              <a:buAutoNum type="arabicPeriod"/>
            </a:pPr>
            <a:r>
              <a:rPr kumimoji="1" lang="zh-CN" altLang="en-US" dirty="0"/>
              <a:t>为什么会这样呢？首先高密度，由于碰撞退激发，基本没有禁线；根据</a:t>
            </a:r>
            <a:r>
              <a:rPr kumimoji="1" lang="en-US" altLang="zh-CN" dirty="0"/>
              <a:t>cloudy</a:t>
            </a:r>
            <a:r>
              <a:rPr kumimoji="1" lang="zh-CN" altLang="en-US" dirty="0"/>
              <a:t>的输出 ，各种元素的冷却贡献主要来自</a:t>
            </a:r>
            <a:r>
              <a:rPr kumimoji="1" lang="en-US" altLang="zh-CN" dirty="0"/>
              <a:t>bound-bound</a:t>
            </a:r>
            <a:r>
              <a:rPr kumimoji="1" lang="zh-CN" altLang="en-US" dirty="0"/>
              <a:t>也就是碰撞激发，然后自发辐射光子的冷却。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不同温度段对应各种元素不同的电离态和发射线，右边是一些不同温度段主要贡献的发射线，全都是允线，并且随着温度增高，能量越来越高，电子温度也就越来越高，也就对应不同的温度区间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温度太高的话由于碰撞电离，电子基本被剥夺了，变成了</a:t>
            </a:r>
            <a:r>
              <a:rPr kumimoji="1" lang="en-US" altLang="zh-CN" dirty="0"/>
              <a:t>ff</a:t>
            </a:r>
            <a:r>
              <a:rPr kumimoji="1" lang="zh-CN" altLang="en-US" dirty="0"/>
              <a:t>主导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太浅深度导致</a:t>
            </a:r>
            <a:r>
              <a:rPr kumimoji="1" lang="en-US" altLang="zh-CN" dirty="0"/>
              <a:t>H</a:t>
            </a:r>
            <a:r>
              <a:rPr kumimoji="1" lang="zh-CN" altLang="en-US" dirty="0"/>
              <a:t>基本全被电离了，没有碰撞激发，导致</a:t>
            </a:r>
            <a:r>
              <a:rPr kumimoji="1" lang="en-US" altLang="zh-CN" dirty="0"/>
              <a:t>H</a:t>
            </a:r>
            <a:r>
              <a:rPr kumimoji="1" lang="zh-CN" altLang="en-US" dirty="0"/>
              <a:t>那个峰不是很突出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7E2AD0-6212-13F8-91DF-CECE645CA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8408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C3B98-269D-E40D-0C46-0F06C681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967B01-1CA7-9402-6CA8-395576558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30C0EA-A3B4-3F73-5012-EA32F2307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然后对</a:t>
            </a:r>
            <a:r>
              <a:rPr kumimoji="1" lang="en-US" altLang="zh-CN" dirty="0"/>
              <a:t>BLR</a:t>
            </a:r>
            <a:r>
              <a:rPr kumimoji="1" lang="zh-CN" altLang="en-US" dirty="0"/>
              <a:t>表面不同</a:t>
            </a:r>
            <a:r>
              <a:rPr kumimoji="1" lang="en-US" altLang="zh-CN" dirty="0"/>
              <a:t>phi</a:t>
            </a:r>
            <a:r>
              <a:rPr kumimoji="1" lang="zh-CN" altLang="en-US" dirty="0"/>
              <a:t>做了比较，电离参数根据这个公式定义的，其中</a:t>
            </a:r>
            <a:r>
              <a:rPr kumimoji="1" lang="en-US" altLang="zh-CN" dirty="0"/>
              <a:t>Q</a:t>
            </a:r>
            <a:r>
              <a:rPr kumimoji="1" lang="zh-CN" altLang="en-US" dirty="0"/>
              <a:t>是中心辐射源每秒发出的电离光子总数，</a:t>
            </a:r>
            <a:r>
              <a:rPr kumimoji="1" lang="en-US" altLang="zh-CN" dirty="0" err="1"/>
              <a:t>φ</a:t>
            </a:r>
            <a:r>
              <a:rPr kumimoji="1" lang="zh-CN" altLang="en-US" dirty="0"/>
              <a:t>是</a:t>
            </a:r>
            <a:r>
              <a:rPr kumimoji="1" lang="en-US" altLang="zh-CN" dirty="0"/>
              <a:t>flux</a:t>
            </a:r>
            <a:r>
              <a:rPr kumimoji="1" lang="zh-CN" altLang="en-US" dirty="0"/>
              <a:t>，</a:t>
            </a:r>
            <a:r>
              <a:rPr kumimoji="1" lang="en-US" altLang="zh-CN" dirty="0"/>
              <a:t>U</a:t>
            </a:r>
            <a:r>
              <a:rPr kumimoji="1" lang="zh-CN" altLang="en-US" dirty="0"/>
              <a:t>就是电离光子密度和</a:t>
            </a:r>
            <a:r>
              <a:rPr kumimoji="1" lang="en-US" altLang="zh-CN" dirty="0"/>
              <a:t>H</a:t>
            </a:r>
            <a:r>
              <a:rPr kumimoji="1" lang="zh-CN" altLang="en-US" dirty="0"/>
              <a:t>密度的无量纲比值</a:t>
            </a: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这里我主要改了</a:t>
            </a:r>
            <a:r>
              <a:rPr kumimoji="1" lang="en-US" altLang="zh-CN" dirty="0"/>
              <a:t>phi</a:t>
            </a:r>
            <a:r>
              <a:rPr kumimoji="1" lang="zh-CN" altLang="en-US" dirty="0"/>
              <a:t>，随着</a:t>
            </a:r>
            <a:r>
              <a:rPr kumimoji="1" lang="en-US" altLang="zh-CN" dirty="0"/>
              <a:t>U</a:t>
            </a:r>
            <a:r>
              <a:rPr kumimoji="1" lang="zh-CN" altLang="en-US" dirty="0"/>
              <a:t>增加，坐班部分的冷却函数显著减小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DC4436-536D-87BE-3BA7-9E63C16F0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8697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CF40-9DB9-5019-7FBF-471AC6EA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4D2F7E-F68B-CF4E-E896-CA829D63C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7D983F-DD46-3CEF-E03D-D281B2243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通过冷却函数贡献发现是</a:t>
            </a:r>
            <a:r>
              <a:rPr kumimoji="1" lang="en-US" altLang="zh-CN" dirty="0"/>
              <a:t>C</a:t>
            </a:r>
            <a:r>
              <a:rPr kumimoji="1" lang="zh-CN" altLang="en-US" dirty="0"/>
              <a:t>、</a:t>
            </a:r>
            <a:r>
              <a:rPr kumimoji="1" lang="en-US" altLang="zh-CN" dirty="0"/>
              <a:t>O</a:t>
            </a:r>
            <a:r>
              <a:rPr kumimoji="1" lang="zh-CN" altLang="en-US" dirty="0"/>
              <a:t>大幅下降，可能是电离参数太大，电离光子能量增加，部分</a:t>
            </a:r>
            <a:r>
              <a:rPr kumimoji="1" lang="en-US" altLang="zh-CN" dirty="0"/>
              <a:t>C</a:t>
            </a:r>
            <a:r>
              <a:rPr kumimoji="1" lang="zh-CN" altLang="en-US" dirty="0"/>
              <a:t>、</a:t>
            </a:r>
            <a:r>
              <a:rPr kumimoji="1" lang="en-US" altLang="zh-CN" dirty="0"/>
              <a:t>O</a:t>
            </a:r>
            <a:r>
              <a:rPr kumimoji="1" lang="zh-CN" altLang="en-US" dirty="0"/>
              <a:t>被过电离，电子被电离完了，</a:t>
            </a:r>
            <a:r>
              <a:rPr kumimoji="1" lang="en-US" altLang="zh-CN" dirty="0"/>
              <a:t>Fe</a:t>
            </a:r>
            <a:r>
              <a:rPr kumimoji="1" lang="zh-CN" altLang="en-US" dirty="0"/>
              <a:t>由于内层电子很多基本没有影响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7BE374-4DB2-4235-27F7-6A887D5F7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3696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EA687-652D-FDBB-A305-20895A52F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D782AC-C1C6-784C-D7B2-45803C84D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6D2E31-26BE-4665-96C0-BE2B0F879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可以做热稳定性的分析，可以当做一个</a:t>
            </a:r>
            <a:r>
              <a:rPr kumimoji="1" lang="en-US" altLang="zh-CN" dirty="0"/>
              <a:t>BLR</a:t>
            </a:r>
            <a:r>
              <a:rPr kumimoji="1" lang="zh-CN" altLang="en-US" dirty="0"/>
              <a:t>内部温度</a:t>
            </a:r>
            <a:r>
              <a:rPr kumimoji="1" lang="en-US" altLang="zh-CN" dirty="0"/>
              <a:t>-</a:t>
            </a:r>
            <a:r>
              <a:rPr kumimoji="1" lang="zh-CN" altLang="en-US" dirty="0"/>
              <a:t>辐射压强的相图，左边是净冷却，右边是净加热，中间的负斜率区域就是不稳定区域，难以维持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AF33DA-F006-0928-FF72-984473126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3537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FE3E-A9EF-0C36-DA10-B1DC8331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F13ACB-6CAB-C5ED-C204-2CB2E8E5C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96F599-AF3C-78EE-EECF-4980DADC5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0B0D56-DD29-C8EB-CCCC-0D1B64B6B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89BA0-3AE9-BA41-9428-C4745B9A8579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181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尘埃对冷却的贡献主要来自</a:t>
            </a:r>
            <a:r>
              <a:rPr lang="en-US" altLang="zh-CN"/>
              <a:t> </a:t>
            </a:r>
            <a:r>
              <a:rPr lang="zh-CN" altLang="en-US"/>
              <a:t>尘埃</a:t>
            </a:r>
            <a:r>
              <a:rPr lang="en-US" altLang="zh-CN"/>
              <a:t>–</a:t>
            </a:r>
            <a:r>
              <a:rPr lang="zh-CN" altLang="en-US"/>
              <a:t>气体能量交换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禁线冷却需要高电离度和低密度：</a:t>
            </a:r>
            <a:r>
              <a:rPr lang="en-US" altLang="zh-CN"/>
              <a:t>[O III] 4959/5007 → C III] 1907/1909 </a:t>
            </a:r>
            <a:r>
              <a:rPr lang="en-US" altLang="zh-CN">
                <a:sym typeface="+mn-ea"/>
              </a:rPr>
              <a:t>→ </a:t>
            </a:r>
            <a:r>
              <a:rPr lang="en-US" altLang="zh-CN"/>
              <a:t>O4 O5 O6 </a:t>
            </a:r>
            <a:r>
              <a:rPr lang="en-US" altLang="zh-CN">
                <a:sym typeface="+mn-ea"/>
              </a:rPr>
              <a:t>→ </a:t>
            </a:r>
            <a:r>
              <a:rPr lang="en-US" altLang="zh-CN"/>
              <a:t>Ne7 </a:t>
            </a:r>
            <a:r>
              <a:rPr lang="en-US" altLang="zh-CN">
                <a:sym typeface="+mn-ea"/>
              </a:rPr>
              <a:t>→ </a:t>
            </a:r>
            <a:r>
              <a:rPr lang="en-US" altLang="zh-CN"/>
              <a:t>Fe9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中高温冷却是碰撞主导，不受辐射源温度影响；低温冷却是光致电离主导，受辐射源温度影响。</a:t>
            </a:r>
          </a:p>
          <a:p>
            <a:r>
              <a:rPr lang="zh-CN" altLang="en-US"/>
              <a:t>在低温段，辐射源温度越高，高能光子越多，电离度越高，电子密度越高，冷却越有效。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Φ(H) </a:t>
            </a:r>
            <a:r>
              <a:rPr lang="zh-CN" altLang="en-US"/>
              <a:t>越强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氢更多电离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冷却被削弱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从低温到高温段，依次由</a:t>
            </a:r>
            <a:r>
              <a:rPr kumimoji="1" lang="en-US" altLang="zh-CN" dirty="0" err="1"/>
              <a:t>H,C,O,Ne,S</a:t>
            </a:r>
            <a:r>
              <a:rPr kumimoji="1" lang="zh-CN" altLang="en-US" dirty="0"/>
              <a:t>和</a:t>
            </a:r>
            <a:r>
              <a:rPr kumimoji="1" lang="en-US" altLang="zh-CN" dirty="0"/>
              <a:t>H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free-free</a:t>
            </a:r>
            <a:r>
              <a:rPr kumimoji="1" lang="zh-CN" altLang="en-US" dirty="0"/>
              <a:t>主导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1002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低温段由分子主导，温度上升分子解体成原子，冷却效率大大下降，分子冷却主要源于转动能级和振动能级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0862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低温段，尘埃有利于分子的形成，从而提高了分子冷却的效率，高温段，电子和离子高速碰撞尘埃把热传导到尘埃，尘埃又通过红外辐射释放热量。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2708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中温段差异明显的原因是</a:t>
            </a:r>
            <a:r>
              <a:rPr kumimoji="1" lang="en-US" altLang="zh-CN" dirty="0" err="1"/>
              <a:t>C,O,Ne</a:t>
            </a:r>
            <a:r>
              <a:rPr kumimoji="1" lang="zh-CN" altLang="en-US" dirty="0"/>
              <a:t>等金属元素冷却占主体，因此金属丰度增加这些原子丰度也增加，使得冷却效率大大上升。同时高的金属丰度也带来了更多的电子，加剧了碰撞，使得低温和高温段的冷却效率也上升，但是对低温段的分子冷却和高温段的</a:t>
            </a:r>
            <a:r>
              <a:rPr kumimoji="1" lang="en-US" altLang="zh-CN" dirty="0"/>
              <a:t>free-free</a:t>
            </a:r>
            <a:r>
              <a:rPr kumimoji="1" lang="zh-CN" altLang="en-US" dirty="0"/>
              <a:t>影响并不大。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5764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大多数</a:t>
            </a:r>
            <a:r>
              <a:rPr kumimoji="1" lang="en-US" altLang="zh-CN" dirty="0"/>
              <a:t>SNR</a:t>
            </a:r>
            <a:r>
              <a:rPr kumimoji="1" lang="zh-CN" altLang="en-US" dirty="0"/>
              <a:t>都产生于这个</a:t>
            </a:r>
            <a:r>
              <a:rPr kumimoji="1" lang="en-US" altLang="zh-CN" dirty="0"/>
              <a:t>CNM-WNM</a:t>
            </a:r>
            <a:r>
              <a:rPr kumimoji="1" lang="zh-CN" altLang="en-US" dirty="0"/>
              <a:t>的范围，极个别可能产生于</a:t>
            </a:r>
            <a:r>
              <a:rPr kumimoji="1" lang="en-US" altLang="zh-CN" dirty="0"/>
              <a:t>HIM</a:t>
            </a:r>
            <a:r>
              <a:rPr kumimoji="1" lang="zh-CN" altLang="en-US" dirty="0"/>
              <a:t>，比如</a:t>
            </a:r>
            <a:r>
              <a:rPr kumimoji="1" lang="en-US" altLang="zh-CN" dirty="0" err="1"/>
              <a:t>Ia</a:t>
            </a:r>
            <a:r>
              <a:rPr kumimoji="1" lang="zh-CN" altLang="en-US" dirty="0"/>
              <a:t>型超新星。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0261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由于带电粒子在激波两侧被湍动磁场多次散射，在反复穿越激波的过程中系统性地从激波速度差中获取能量，从而产生费米加速。</a:t>
            </a:r>
            <a:endParaRPr lang="en-US" altLang="zh-CN" b="1" dirty="0"/>
          </a:p>
          <a:p>
            <a:r>
              <a:rPr lang="zh-CN" altLang="en-US" dirty="0"/>
              <a:t>在前向激波处，强激波通过一阶费米加速显著增强了宇宙线的产生与压缩，因此局域宇宙线能量密度可比背景高一个数量级，而在非激波区域则可近似采用银河背景值。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2805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自由膨胀且被加热后密度小于背景在超新星中金属丰度尤其高</a:t>
            </a:r>
            <a:endParaRPr kumimoji="1" lang="en-US" altLang="zh-CN" dirty="0"/>
          </a:p>
          <a:p>
            <a:r>
              <a:rPr kumimoji="1" lang="zh-CN" altLang="en-US" dirty="0"/>
              <a:t>且尘埃在高温下几乎完全被热溅射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2712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仅仅自由膨胀未被激波压缩</a:t>
            </a:r>
            <a:endParaRPr kumimoji="1" lang="en-US" altLang="zh-CN" dirty="0"/>
          </a:p>
          <a:p>
            <a:r>
              <a:rPr kumimoji="1" lang="zh-CN" altLang="en-US" dirty="0"/>
              <a:t>尚未被激波增温</a:t>
            </a:r>
            <a:endParaRPr kumimoji="1" lang="en-US" altLang="zh-CN" dirty="0"/>
          </a:p>
          <a:p>
            <a:r>
              <a:rPr kumimoji="1" lang="zh-CN" altLang="en-US" dirty="0"/>
              <a:t>没有尘埃，在超新星爆发中已被完全摧毁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22B-AA40-1E4D-BD19-01FD6CDA3AF7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52083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Times New Roman" panose="02020503050405090304" charset="0"/>
                <a:ea typeface="Times New Roman" panose="02020503050405090304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Times New Roman" panose="02020503050405090304" charset="0"/>
                <a:ea typeface="Times New Roman" panose="020205030504050903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Times New Roman" panose="02020503050405090304" charset="0"/>
                <a:ea typeface="Times New Roman" panose="0202050305040509030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Times New Roman" panose="02020503050405090304" charset="0"/>
          <a:ea typeface="Times New Roman" panose="02020503050405090304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Times New Roman" panose="02020503050405090304" charset="0"/>
          <a:ea typeface="Times New Roman" panose="02020503050405090304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Times New Roman" panose="02020503050405090304" charset="0"/>
          <a:ea typeface="Times New Roman" panose="02020503050405090304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Times New Roman" panose="02020503050405090304" charset="0"/>
          <a:ea typeface="Times New Roman" panose="02020503050405090304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Times New Roman" panose="02020503050405090304" charset="0"/>
          <a:ea typeface="Times New Roman" panose="02020503050405090304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Times New Roman" panose="02020503050405090304" charset="0"/>
          <a:ea typeface="Times New Roman" panose="020205030504050903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65.xml"/><Relationship Id="rId7" Type="http://schemas.openxmlformats.org/officeDocument/2006/relationships/image" Target="../media/image10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50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25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27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26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28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image" Target="../media/image30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29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90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1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86903-8D65-DB75-8206-26AC34049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Cloudy to calculate the detailed cooling function of gas in different ISM conditions</a:t>
            </a:r>
            <a:endParaRPr kumimoji="1"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C2FA69-EB55-9738-BAC6-B751A3335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Investigators: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Jingshuo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Shuaiyi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Hongyu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</a:p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2026/01/02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84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79A3D-06C4-8432-2C92-BDB6FE375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77055" cy="538765"/>
          </a:xfrm>
        </p:spPr>
        <p:txBody>
          <a:bodyPr>
            <a:normAutofit fontScale="90000"/>
          </a:bodyPr>
          <a:lstStyle/>
          <a:p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kumimoji="1"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6F2EE0-AF3E-05C3-CA15-F1EC23EE6EB0}"/>
              </a:ext>
            </a:extLst>
          </p:cNvPr>
          <p:cNvSpPr txBox="1"/>
          <p:nvPr/>
        </p:nvSpPr>
        <p:spPr>
          <a:xfrm>
            <a:off x="838200" y="1462884"/>
            <a:ext cx="8135007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Background——Cooling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ISM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conditions: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BLR——by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Shuaiyi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HII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Region——by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Jingshuo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SNR——by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Hongyu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013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0E4E-F33C-42E2-6AD5-F4C8EE40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41F74-3131-E76B-99F8-941DF2AA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3924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43ACA7-383D-45EE-F8ED-004C48ADB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90" y="957022"/>
            <a:ext cx="8589579" cy="5535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E0ECCB3-5C2D-35C3-C6C7-67324DF60FA7}"/>
                  </a:ext>
                </a:extLst>
              </p:cNvPr>
              <p:cNvSpPr txBox="1"/>
              <p:nvPr/>
            </p:nvSpPr>
            <p:spPr>
              <a:xfrm>
                <a:off x="8944303" y="977462"/>
                <a:ext cx="2816773" cy="3730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Cooling: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decreasing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types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cooling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Two-body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interaction: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another</a:t>
                </a:r>
                <a:r>
                  <a:rPr kumimoji="1"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endParaRPr kumimoji="1"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E0ECCB3-5C2D-35C3-C6C7-67324DF60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303" y="977462"/>
                <a:ext cx="2816773" cy="3730317"/>
              </a:xfrm>
              <a:prstGeom prst="rect">
                <a:avLst/>
              </a:prstGeom>
              <a:blipFill>
                <a:blip r:embed="rId4"/>
                <a:stretch>
                  <a:fillRect l="-1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486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5AA2-B1FC-13B1-9358-E3B494F6E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0D84F-771D-4F66-E5E4-2AC20DD6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31372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9B62AD-725D-BA25-55ED-0B4C54D93DDC}"/>
                  </a:ext>
                </a:extLst>
              </p:cNvPr>
              <p:cNvSpPr txBox="1"/>
              <p:nvPr/>
            </p:nvSpPr>
            <p:spPr>
              <a:xfrm>
                <a:off x="838200" y="1258814"/>
                <a:ext cx="8135007" cy="1687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AutoNum type="arabicPeriod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olumetric</a:t>
                </a:r>
                <a:r>
                  <a:rPr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cooling rate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[erg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kumimoji="1" lang="en-US" altLang="zh-CN" sz="2400" b="0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kumimoji="1"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Cooling</a:t>
                </a:r>
                <a:r>
                  <a:rPr kumimoji="1" lang="zh-CN" alt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unction:</a:t>
                </a:r>
                <a:r>
                  <a:rPr kumimoji="1" lang="zh-CN" alt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[erg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</a:t>
                </a:r>
                <a:r>
                  <a:rPr kumimoji="1"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1" lang="zh-CN" alt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69B62AD-725D-BA25-55ED-0B4C54D9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58814"/>
                <a:ext cx="8135007" cy="1687963"/>
              </a:xfrm>
              <a:prstGeom prst="rect">
                <a:avLst/>
              </a:prstGeom>
              <a:blipFill>
                <a:blip r:embed="rId3"/>
                <a:stretch>
                  <a:fillRect l="-1092" b="-8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6BDD1E9-5FD5-8E05-BB30-4403D4451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572" y="1291846"/>
            <a:ext cx="5816558" cy="523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9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CD74-1B8A-33BC-D72B-7898E7B6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B3F27-C5B9-79F5-D0EF-F90504D3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31372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5889AD-100D-D1F3-560D-DC59CD5E774C}"/>
              </a:ext>
            </a:extLst>
          </p:cNvPr>
          <p:cNvSpPr txBox="1"/>
          <p:nvPr/>
        </p:nvSpPr>
        <p:spPr>
          <a:xfrm>
            <a:off x="8544506" y="2022278"/>
            <a:ext cx="3235570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 is a spectral synthesis code designed to simulate conditions in interstellar matter under a broad range of conditions. 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35D1096-4459-0062-8D20-61F8DA34B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03890"/>
            <a:ext cx="7772400" cy="111838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187FCAA-CEA3-AED1-D32C-BBE3810A6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1" y="2022278"/>
            <a:ext cx="7705980" cy="462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4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3491-752B-78BF-4FF6-2E04E317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8EEE6-B098-4AEC-FC76-B50DD65B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31372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DAB0F7-D03E-0D0E-10C5-BB6B40AD09AD}"/>
              </a:ext>
            </a:extLst>
          </p:cNvPr>
          <p:cNvSpPr txBox="1"/>
          <p:nvPr/>
        </p:nvSpPr>
        <p:spPr>
          <a:xfrm>
            <a:off x="228599" y="1043938"/>
            <a:ext cx="6289431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adiation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n(H)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function…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15E6C5-CA39-3724-C693-E89FBB27D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572" y="217997"/>
            <a:ext cx="5585372" cy="347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8BAEF3D-F0A2-FF62-3693-22772EE72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571" y="3612917"/>
            <a:ext cx="5585373" cy="28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49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DB42-39D5-2CBF-5C2A-741B6949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F4797-AE7D-14DA-398A-5C5604C6A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31372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0FAC98-2A52-BE1C-37EB-A8BC342C56F9}"/>
              </a:ext>
            </a:extLst>
          </p:cNvPr>
          <p:cNvSpPr txBox="1"/>
          <p:nvPr/>
        </p:nvSpPr>
        <p:spPr>
          <a:xfrm>
            <a:off x="838200" y="1079107"/>
            <a:ext cx="9595338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Equilibrium.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B210EEEA-21B1-6DAE-4C55-78D31EEBD9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19046" cy="291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9F610E-45C7-91D6-8300-434F6FE3B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5" y="1659074"/>
            <a:ext cx="11360510" cy="460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6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54E5D-9073-9525-01AD-C51D2140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B7C5B-70C1-A1AE-7A5B-8A7E8A23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31372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4807A6-B862-2EA0-5999-9FD8B530F499}"/>
              </a:ext>
            </a:extLst>
          </p:cNvPr>
          <p:cNvSpPr txBox="1"/>
          <p:nvPr/>
        </p:nvSpPr>
        <p:spPr>
          <a:xfrm>
            <a:off x="1063978" y="5763996"/>
            <a:ext cx="1634066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BLR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E586FF2B-9E86-1AB3-C5D4-17FF1882F2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19046" cy="291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3FE473-3CBF-3864-84AC-01E2D094E35F}"/>
              </a:ext>
            </a:extLst>
          </p:cNvPr>
          <p:cNvSpPr txBox="1"/>
          <p:nvPr/>
        </p:nvSpPr>
        <p:spPr>
          <a:xfrm>
            <a:off x="5442656" y="5763995"/>
            <a:ext cx="1634066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A47A82-0C80-628A-49E1-9C65EEFD7000}"/>
              </a:ext>
            </a:extLst>
          </p:cNvPr>
          <p:cNvSpPr txBox="1"/>
          <p:nvPr/>
        </p:nvSpPr>
        <p:spPr>
          <a:xfrm>
            <a:off x="9583312" y="5763995"/>
            <a:ext cx="1634066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SNR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CB8773C8-EAA6-AFDB-DEFE-E32931CCA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5" y="1739900"/>
            <a:ext cx="4351717" cy="326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2EDAFF76-F030-850D-09EF-B874E070F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76" y="1739900"/>
            <a:ext cx="4047069" cy="326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A4976399-1842-64B9-C441-B970CEFF7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739900"/>
            <a:ext cx="3175000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090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4FFB-0328-AB8D-C294-87FC9508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B1449-1AB4-2A99-7C1E-AAA5BE70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8550350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(BLR):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C3AEDC-052B-DA1A-23D1-F73EB186F5EF}"/>
              </a:ext>
            </a:extLst>
          </p:cNvPr>
          <p:cNvSpPr txBox="1"/>
          <p:nvPr/>
        </p:nvSpPr>
        <p:spPr>
          <a:xfrm>
            <a:off x="838200" y="1079107"/>
            <a:ext cx="4683369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density, dust-free gas clouds moving at roughly Keplerian velocities at a luminosity dependent distance of 0.01-1 pc from the BH</a:t>
            </a:r>
          </a:p>
          <a:p>
            <a:pPr>
              <a:lnSpc>
                <a:spcPct val="150000"/>
              </a:lnSpc>
            </a:pP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properties:</a:t>
            </a:r>
            <a:endParaRPr kumimoji="1"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metallicity</a:t>
            </a:r>
          </a:p>
          <a:p>
            <a:pPr>
              <a:lnSpc>
                <a:spcPct val="150000"/>
              </a:lnSpc>
            </a:pP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Unified Model">
            <a:extLst>
              <a:ext uri="{FF2B5EF4-FFF2-40B4-BE49-F238E27FC236}">
                <a16:creationId xmlns:a16="http://schemas.microsoft.com/office/drawing/2014/main" id="{D9BE7970-4614-FD4A-8CE0-9EF90345E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569" y="1079107"/>
            <a:ext cx="5920154" cy="458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69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4B70-8C44-03E0-39B7-3365BF8D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2CC61-351E-8201-9516-F693165B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4550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results——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9D2595-19B8-E9D9-454B-7DA88E7678B1}"/>
              </a:ext>
            </a:extLst>
          </p:cNvPr>
          <p:cNvSpPr txBox="1"/>
          <p:nvPr/>
        </p:nvSpPr>
        <p:spPr>
          <a:xfrm>
            <a:off x="1837834" y="6396335"/>
            <a:ext cx="3997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EC10D9-A9F2-78EA-9D50-E6D4A6169FA5}"/>
              </a:ext>
            </a:extLst>
          </p:cNvPr>
          <p:cNvSpPr txBox="1"/>
          <p:nvPr/>
        </p:nvSpPr>
        <p:spPr>
          <a:xfrm>
            <a:off x="7531784" y="6322460"/>
            <a:ext cx="3997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395CE6-7DC6-6FA1-57D6-8E6B2C8151AF}"/>
              </a:ext>
            </a:extLst>
          </p:cNvPr>
          <p:cNvSpPr txBox="1"/>
          <p:nvPr/>
        </p:nvSpPr>
        <p:spPr>
          <a:xfrm>
            <a:off x="838200" y="939250"/>
            <a:ext cx="9823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My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configuration: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AGN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logU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=-2,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logn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(H)=10,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solar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metal,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zone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341187-12C2-9FD8-3650-6BD5557E1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9281"/>
            <a:ext cx="6276071" cy="470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5855AB6-B5C3-0C0C-8608-F504CAA2C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071" y="1908336"/>
            <a:ext cx="5760011" cy="426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8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4C7F-40FD-F793-C822-764A54E7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1795A-6FA9-B746-6438-B21F29FA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4550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results——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767EA8-040F-7CD3-7033-5721FD4289B6}"/>
              </a:ext>
            </a:extLst>
          </p:cNvPr>
          <p:cNvSpPr txBox="1"/>
          <p:nvPr/>
        </p:nvSpPr>
        <p:spPr>
          <a:xfrm>
            <a:off x="3293438" y="5843058"/>
            <a:ext cx="3997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1DCA4C-009B-9D29-EFD5-BE9E5B54E503}"/>
              </a:ext>
            </a:extLst>
          </p:cNvPr>
          <p:cNvSpPr txBox="1"/>
          <p:nvPr/>
        </p:nvSpPr>
        <p:spPr>
          <a:xfrm>
            <a:off x="9813363" y="5803674"/>
            <a:ext cx="2582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brightest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EFC52A0-9D1D-0906-65EE-788A65ECB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79060"/>
              </p:ext>
            </p:extLst>
          </p:nvPr>
        </p:nvGraphicFramePr>
        <p:xfrm>
          <a:off x="9251769" y="1131946"/>
          <a:ext cx="2582219" cy="4490308"/>
        </p:xfrm>
        <a:graphic>
          <a:graphicData uri="http://schemas.openxmlformats.org/drawingml/2006/table">
            <a:tbl>
              <a:tblPr>
                <a:tableStyleId>{E8034E78-7F5D-4C2E-B375-FC64B27BC917}</a:tableStyleId>
              </a:tblPr>
              <a:tblGrid>
                <a:gridCol w="794077">
                  <a:extLst>
                    <a:ext uri="{9D8B030D-6E8A-4147-A177-3AD203B41FA5}">
                      <a16:colId xmlns:a16="http://schemas.microsoft.com/office/drawing/2014/main" val="4073445187"/>
                    </a:ext>
                  </a:extLst>
                </a:gridCol>
                <a:gridCol w="799958">
                  <a:extLst>
                    <a:ext uri="{9D8B030D-6E8A-4147-A177-3AD203B41FA5}">
                      <a16:colId xmlns:a16="http://schemas.microsoft.com/office/drawing/2014/main" val="681395704"/>
                    </a:ext>
                  </a:extLst>
                </a:gridCol>
                <a:gridCol w="988184">
                  <a:extLst>
                    <a:ext uri="{9D8B030D-6E8A-4147-A177-3AD203B41FA5}">
                      <a16:colId xmlns:a16="http://schemas.microsoft.com/office/drawing/2014/main" val="257173183"/>
                    </a:ext>
                  </a:extLst>
                </a:gridCol>
              </a:tblGrid>
              <a:tr h="540264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(Å)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(eV)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6600059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 2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2795.53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4.44419484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2819363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 2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2802.71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4.432809673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0789330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  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6562.8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1.893076126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0083675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  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1215.67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10.21978004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5155675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 4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1548.19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8.024777321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9616286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 4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1550.77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8.011426582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2233525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 6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1031.91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12.03969338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7219269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 5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629.732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19.72883703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1688869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 9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171.073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72.62326609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3221844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Fe11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178.48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69.609368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4197662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Fe16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335.409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37.04098578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8574996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Fe17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827.5414641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4078738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Fe21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128.751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96.49540586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0802754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Fe23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132.906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93.47869923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0463615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4D1E49E5-4FB1-A106-D530-62B40E0F5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12" y="911143"/>
            <a:ext cx="8281896" cy="493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9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96D0-00BD-2B05-31F7-0A90983F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39DF3-FA65-FC16-67FB-4E8C76A4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4550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results——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A0267B-AA99-84AC-5CA8-8B6A948D0DD5}"/>
              </a:ext>
            </a:extLst>
          </p:cNvPr>
          <p:cNvSpPr txBox="1"/>
          <p:nvPr/>
        </p:nvSpPr>
        <p:spPr>
          <a:xfrm>
            <a:off x="3293438" y="5843058"/>
            <a:ext cx="3997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45C3E2-9DC8-A32B-FE56-F054C1E4D889}"/>
              </a:ext>
            </a:extLst>
          </p:cNvPr>
          <p:cNvSpPr txBox="1"/>
          <p:nvPr/>
        </p:nvSpPr>
        <p:spPr>
          <a:xfrm>
            <a:off x="9813363" y="5803674"/>
            <a:ext cx="2582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brightest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F2F1CFA-B3A1-242C-0B56-73C04AFE70E6}"/>
              </a:ext>
            </a:extLst>
          </p:cNvPr>
          <p:cNvGraphicFramePr>
            <a:graphicFrameLocks noGrp="1"/>
          </p:cNvGraphicFramePr>
          <p:nvPr/>
        </p:nvGraphicFramePr>
        <p:xfrm>
          <a:off x="9251769" y="1131946"/>
          <a:ext cx="2582219" cy="4490308"/>
        </p:xfrm>
        <a:graphic>
          <a:graphicData uri="http://schemas.openxmlformats.org/drawingml/2006/table">
            <a:tbl>
              <a:tblPr>
                <a:tableStyleId>{E8034E78-7F5D-4C2E-B375-FC64B27BC917}</a:tableStyleId>
              </a:tblPr>
              <a:tblGrid>
                <a:gridCol w="794077">
                  <a:extLst>
                    <a:ext uri="{9D8B030D-6E8A-4147-A177-3AD203B41FA5}">
                      <a16:colId xmlns:a16="http://schemas.microsoft.com/office/drawing/2014/main" val="4073445187"/>
                    </a:ext>
                  </a:extLst>
                </a:gridCol>
                <a:gridCol w="799958">
                  <a:extLst>
                    <a:ext uri="{9D8B030D-6E8A-4147-A177-3AD203B41FA5}">
                      <a16:colId xmlns:a16="http://schemas.microsoft.com/office/drawing/2014/main" val="681395704"/>
                    </a:ext>
                  </a:extLst>
                </a:gridCol>
                <a:gridCol w="988184">
                  <a:extLst>
                    <a:ext uri="{9D8B030D-6E8A-4147-A177-3AD203B41FA5}">
                      <a16:colId xmlns:a16="http://schemas.microsoft.com/office/drawing/2014/main" val="257173183"/>
                    </a:ext>
                  </a:extLst>
                </a:gridCol>
              </a:tblGrid>
              <a:tr h="540264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(Å)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(eV)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6600059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 2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2795.53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4.44419484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2819363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 2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2802.71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4.432809673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0789330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  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6562.8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1.893076126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0083675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  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1215.67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10.21978004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5155675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 4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1548.19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8.024777321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9616286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 4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1550.77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8.011426582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2233525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 6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1031.91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12.03969338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7219269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 5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629.732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19.72883703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1688869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 9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171.073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72.62326609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3221844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Fe11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178.48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69.609368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4197662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Fe16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335.409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37.04098578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8574996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Fe17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827.5414641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4078738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Fe21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128.751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96.49540586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0802754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Fe23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132.906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93.47869923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0463615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34D7A2DD-493E-195D-6020-207BD7F97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12" y="911143"/>
            <a:ext cx="8281896" cy="4931915"/>
          </a:xfrm>
          <a:prstGeom prst="rect">
            <a:avLst/>
          </a:prstGeom>
        </p:spPr>
      </p:pic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BA37E01-D9E4-0F73-FFA7-DAEE41C346AA}"/>
              </a:ext>
            </a:extLst>
          </p:cNvPr>
          <p:cNvCxnSpPr>
            <a:cxnSpLocks/>
          </p:cNvCxnSpPr>
          <p:nvPr/>
        </p:nvCxnSpPr>
        <p:spPr>
          <a:xfrm>
            <a:off x="1952978" y="2551289"/>
            <a:ext cx="225778" cy="451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6A699663-2CE2-1AA6-8A5D-CC369D8627AE}"/>
              </a:ext>
            </a:extLst>
          </p:cNvPr>
          <p:cNvCxnSpPr>
            <a:cxnSpLocks/>
          </p:cNvCxnSpPr>
          <p:nvPr/>
        </p:nvCxnSpPr>
        <p:spPr>
          <a:xfrm>
            <a:off x="2974623" y="1580444"/>
            <a:ext cx="0" cy="44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FCAB6404-8851-1621-D47D-D0CABD81BE2E}"/>
              </a:ext>
            </a:extLst>
          </p:cNvPr>
          <p:cNvCxnSpPr>
            <a:cxnSpLocks/>
          </p:cNvCxnSpPr>
          <p:nvPr/>
        </p:nvCxnSpPr>
        <p:spPr>
          <a:xfrm flipH="1">
            <a:off x="3438271" y="1546577"/>
            <a:ext cx="296428" cy="400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A1E0761-6E00-3F72-0FD3-453E962EF8A6}"/>
              </a:ext>
            </a:extLst>
          </p:cNvPr>
          <p:cNvCxnSpPr>
            <a:cxnSpLocks/>
          </p:cNvCxnSpPr>
          <p:nvPr/>
        </p:nvCxnSpPr>
        <p:spPr>
          <a:xfrm flipH="1">
            <a:off x="4220324" y="2026355"/>
            <a:ext cx="132378" cy="451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E11E7B88-3F82-F26F-69D1-0C0C778C3C56}"/>
              </a:ext>
            </a:extLst>
          </p:cNvPr>
          <p:cNvCxnSpPr>
            <a:cxnSpLocks/>
          </p:cNvCxnSpPr>
          <p:nvPr/>
        </p:nvCxnSpPr>
        <p:spPr>
          <a:xfrm>
            <a:off x="7636934" y="1521176"/>
            <a:ext cx="225778" cy="451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446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32688-8185-6ADA-E9A6-69EE5A82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60510-0FA2-E77A-98E6-E3089C74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4550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Ionization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07E832-8899-B5B8-B369-B91A5988FEAA}"/>
              </a:ext>
            </a:extLst>
          </p:cNvPr>
          <p:cNvSpPr txBox="1"/>
          <p:nvPr/>
        </p:nvSpPr>
        <p:spPr>
          <a:xfrm>
            <a:off x="7409915" y="5887151"/>
            <a:ext cx="3997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A15C4E-0188-DFD1-2C19-34AC258EF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8" y="1407984"/>
            <a:ext cx="3985846" cy="11638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3591453-0046-B8A9-960B-2EFF4B28CB8A}"/>
              </a:ext>
            </a:extLst>
          </p:cNvPr>
          <p:cNvSpPr txBox="1"/>
          <p:nvPr/>
        </p:nvSpPr>
        <p:spPr>
          <a:xfrm>
            <a:off x="257907" y="2778369"/>
            <a:ext cx="3922567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Q(H)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]: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ionizing photons emitted by the central object</a:t>
            </a:r>
          </a:p>
          <a:p>
            <a:pPr>
              <a:lnSpc>
                <a:spcPct val="150000"/>
              </a:lnSpc>
            </a:pPr>
            <a:r>
              <a:rPr kumimoji="1"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Φ(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H) [cm</a:t>
            </a:r>
            <a:r>
              <a:rPr kumimoji="1" lang="en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flux of ionizing photons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2030EF3-C185-4DCC-338A-D4FD60A66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354" y="955964"/>
            <a:ext cx="7772400" cy="494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37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F88D-560C-825F-A046-9BCE03D19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865F9-0370-4492-A820-D3E0E8E7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4550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Ionization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5FD5E5-0E13-60B9-AFE1-F368D76B5EC7}"/>
              </a:ext>
            </a:extLst>
          </p:cNvPr>
          <p:cNvSpPr txBox="1"/>
          <p:nvPr/>
        </p:nvSpPr>
        <p:spPr>
          <a:xfrm>
            <a:off x="4672845" y="5861043"/>
            <a:ext cx="3997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BF3B05A-EC30-5E89-C5B5-5E27D5E6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147" y="903889"/>
            <a:ext cx="5930855" cy="44272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C43F19D-4375-E008-3471-FAF534BA9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94" y="903888"/>
            <a:ext cx="5930853" cy="4427257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6CE015D-630B-89BD-CFF8-8C961202BB6A}"/>
              </a:ext>
            </a:extLst>
          </p:cNvPr>
          <p:cNvCxnSpPr/>
          <p:nvPr/>
        </p:nvCxnSpPr>
        <p:spPr>
          <a:xfrm>
            <a:off x="2698044" y="1885244"/>
            <a:ext cx="5554134" cy="1151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EFD4FB-9C18-4121-65A9-91C9C2CFC960}"/>
              </a:ext>
            </a:extLst>
          </p:cNvPr>
          <p:cNvCxnSpPr/>
          <p:nvPr/>
        </p:nvCxnSpPr>
        <p:spPr>
          <a:xfrm>
            <a:off x="2506133" y="2460978"/>
            <a:ext cx="6581423" cy="1207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9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51AB5-7379-3764-8E88-70D024C2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F952A-EB7F-6D5F-CF1E-2096D306E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4550" cy="538765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S-curve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263B43-225C-E6E0-3B89-E8921D72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05" y="1213501"/>
            <a:ext cx="6311900" cy="4991100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1B229B4-290D-89C2-4B6B-FCE133675C0A}"/>
              </a:ext>
            </a:extLst>
          </p:cNvPr>
          <p:cNvCxnSpPr/>
          <p:nvPr/>
        </p:nvCxnSpPr>
        <p:spPr>
          <a:xfrm>
            <a:off x="5000978" y="2438401"/>
            <a:ext cx="0" cy="170462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708B136D-2F38-D2B7-4EDC-BD614536F6FC}"/>
              </a:ext>
            </a:extLst>
          </p:cNvPr>
          <p:cNvCxnSpPr/>
          <p:nvPr/>
        </p:nvCxnSpPr>
        <p:spPr>
          <a:xfrm>
            <a:off x="5130800" y="2438401"/>
            <a:ext cx="0" cy="170462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7DD8854-284C-4588-6C09-27582BFEB9FA}"/>
              </a:ext>
            </a:extLst>
          </p:cNvPr>
          <p:cNvSpPr txBox="1"/>
          <p:nvPr/>
        </p:nvSpPr>
        <p:spPr>
          <a:xfrm>
            <a:off x="7225597" y="3059879"/>
            <a:ext cx="2381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3474E382-423C-FAE1-1C9F-5D184D0316DD}"/>
              </a:ext>
            </a:extLst>
          </p:cNvPr>
          <p:cNvCxnSpPr/>
          <p:nvPr/>
        </p:nvCxnSpPr>
        <p:spPr>
          <a:xfrm>
            <a:off x="5000978" y="3290711"/>
            <a:ext cx="20884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477A1A6-9CD3-5C0C-428E-0159DCA34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061" y="2691811"/>
            <a:ext cx="698500" cy="6096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B704500-0BFD-7BE4-FA1C-F1C6914A7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856" y="4188856"/>
            <a:ext cx="8509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26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E2E2-3475-8F28-C6E2-DF0DB7EDD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A9AEC-D950-F4DD-C516-E1677DDC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4550" cy="538765"/>
          </a:xfrm>
        </p:spPr>
        <p:txBody>
          <a:bodyPr>
            <a:no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068B20-5650-2B90-95BE-32D01967DA1D}"/>
              </a:ext>
            </a:extLst>
          </p:cNvPr>
          <p:cNvSpPr txBox="1"/>
          <p:nvPr/>
        </p:nvSpPr>
        <p:spPr>
          <a:xfrm>
            <a:off x="838200" y="1576178"/>
            <a:ext cx="10574867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BLR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bound-bound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free-free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Φ(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BLR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logT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5-6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30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Cooling Function of HII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608330" y="1490345"/>
                <a:ext cx="5898515" cy="536829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/>
                  <a:t>radiation source: O/B star</a:t>
                </a:r>
              </a:p>
              <a:p>
                <a:r>
                  <a:rPr lang="en-US" altLang="zh-CN" sz="2400" dirty="0"/>
                  <a:t>cloud geometry: sphere</a:t>
                </a:r>
              </a:p>
              <a:p>
                <a:r>
                  <a:rPr lang="en-US" altLang="zh-CN" sz="2400" dirty="0"/>
                  <a:t>case B</a:t>
                </a:r>
              </a:p>
              <a:p>
                <a:r>
                  <a:rPr lang="en-US" altLang="zh-CN" sz="2400" dirty="0"/>
                  <a:t>typical temperature: ~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2400" dirty="0"/>
                  <a:t> K</a:t>
                </a:r>
              </a:p>
              <a:p>
                <a:r>
                  <a:rPr lang="en-US" altLang="zh-CN" sz="2400" dirty="0"/>
                  <a:t>variables:</a:t>
                </a:r>
              </a:p>
              <a:p>
                <a:pPr lvl="1"/>
                <a:r>
                  <a:rPr lang="en-US" altLang="zh-CN" sz="2000" dirty="0">
                    <a:sym typeface="+mn-ea"/>
                  </a:rPr>
                  <a:t>existence of grains</a:t>
                </a:r>
                <a:endParaRPr lang="en-US" altLang="zh-CN" sz="2000" dirty="0"/>
              </a:p>
              <a:p>
                <a:pPr lvl="1"/>
                <a:r>
                  <a:rPr lang="en-US" altLang="zh-CN" sz="2000" dirty="0">
                    <a:sym typeface="+mn-ea"/>
                  </a:rPr>
                  <a:t>abundance</a:t>
                </a:r>
                <a:endParaRPr lang="en-US" altLang="zh-CN" sz="2000" dirty="0"/>
              </a:p>
              <a:p>
                <a:pPr lvl="1"/>
                <a:r>
                  <a:rPr lang="en-US" altLang="zh-CN" sz="2000" dirty="0">
                    <a:sym typeface="+mn-ea"/>
                  </a:rPr>
                  <a:t>blackbody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𝑒𝑓𝑓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lvl="1"/>
                <a:r>
                  <a:rPr lang="en-US" altLang="zh-CN" sz="2000" dirty="0">
                    <a:sym typeface="+mn-ea"/>
                  </a:rPr>
                  <a:t>hydrogen-ionizing photon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𝛷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lvl="1"/>
                <a:r>
                  <a:rPr lang="en-US" altLang="zh-CN" sz="2000" dirty="0">
                    <a:sym typeface="+mn-ea"/>
                  </a:rPr>
                  <a:t>hydrogen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altLang="zh-CN" sz="2000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6"/>
                </p:custDataLst>
              </p:nvPr>
            </p:nvSpPr>
            <p:spPr>
              <a:xfrm>
                <a:off x="608330" y="1490345"/>
                <a:ext cx="5898515" cy="5368290"/>
              </a:xfr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845" y="1490345"/>
            <a:ext cx="5496560" cy="49237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existence of grains</a:t>
            </a:r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72105" y="1490345"/>
            <a:ext cx="6440170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abundance</a:t>
            </a:r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490345"/>
            <a:ext cx="6440170" cy="4759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1195" y="1490345"/>
            <a:ext cx="6440805" cy="47593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42740" y="1767205"/>
            <a:ext cx="160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ym typeface="+mn-ea"/>
              </a:rPr>
              <a:t>bremsstrahlung</a:t>
            </a:r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4947285" y="2135505"/>
            <a:ext cx="0" cy="71564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580765" y="608330"/>
            <a:ext cx="1607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ym typeface="+mn-ea"/>
              </a:rPr>
              <a:t>high ionization forbidden line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317240" y="1253490"/>
            <a:ext cx="396875" cy="51371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905125" y="1694815"/>
            <a:ext cx="288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91840" y="1868805"/>
            <a:ext cx="288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17240" y="2618105"/>
            <a:ext cx="480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C000"/>
                </a:solidFill>
              </a:rPr>
              <a:t>Ne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936365" y="2851150"/>
            <a:ext cx="480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2">
                    <a:lumMod val="50000"/>
                  </a:schemeClr>
                </a:solidFill>
              </a:rPr>
              <a:t>Fe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752340" y="3060700"/>
            <a:ext cx="480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FF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4" grpId="0"/>
      <p:bldP spid="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blackbody temperature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72105" y="1490345"/>
            <a:ext cx="6440170" cy="47593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24250" y="3625850"/>
            <a:ext cx="1754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ym typeface="+mn-ea"/>
              </a:rPr>
              <a:t>low ionization forbidden line</a:t>
            </a:r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4401820" y="4271010"/>
            <a:ext cx="0" cy="5486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ionizing photon flux and hydrogen density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490345"/>
            <a:ext cx="6440170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2465" y="1490980"/>
            <a:ext cx="6439535" cy="47586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30400" y="4209415"/>
            <a:ext cx="1791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H collisional excitation</a:t>
            </a:r>
          </a:p>
        </p:txBody>
      </p:sp>
      <p:cxnSp>
        <p:nvCxnSpPr>
          <p:cNvPr id="6" name="直接箭头连接符 5"/>
          <p:cNvCxnSpPr>
            <a:endCxn id="3" idx="0"/>
          </p:cNvCxnSpPr>
          <p:nvPr/>
        </p:nvCxnSpPr>
        <p:spPr>
          <a:xfrm>
            <a:off x="2448560" y="3465195"/>
            <a:ext cx="377825" cy="74422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686040" y="4209415"/>
            <a:ext cx="1791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ym typeface="+mn-ea"/>
              </a:rPr>
              <a:t>H collisional excitation</a:t>
            </a:r>
            <a:endParaRPr lang="en-US" altLang="zh-CN"/>
          </a:p>
        </p:txBody>
      </p:sp>
      <p:cxnSp>
        <p:nvCxnSpPr>
          <p:cNvPr id="11" name="直接箭头连接符 10"/>
          <p:cNvCxnSpPr>
            <a:endCxn id="10" idx="0"/>
          </p:cNvCxnSpPr>
          <p:nvPr/>
        </p:nvCxnSpPr>
        <p:spPr>
          <a:xfrm>
            <a:off x="8204200" y="3465195"/>
            <a:ext cx="377825" cy="74422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440170" y="2925445"/>
            <a:ext cx="1754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low ionization forbidden line</a:t>
            </a:r>
          </a:p>
        </p:txBody>
      </p:sp>
      <p:cxnSp>
        <p:nvCxnSpPr>
          <p:cNvPr id="15" name="直接箭头连接符 14"/>
          <p:cNvCxnSpPr>
            <a:endCxn id="14" idx="2"/>
          </p:cNvCxnSpPr>
          <p:nvPr/>
        </p:nvCxnSpPr>
        <p:spPr>
          <a:xfrm flipV="1">
            <a:off x="7317740" y="3570605"/>
            <a:ext cx="0" cy="5486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94055" y="2925445"/>
            <a:ext cx="1754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low ionization forbidden line</a:t>
            </a:r>
          </a:p>
        </p:txBody>
      </p:sp>
      <p:cxnSp>
        <p:nvCxnSpPr>
          <p:cNvPr id="18" name="直接箭头连接符 17"/>
          <p:cNvCxnSpPr>
            <a:endCxn id="17" idx="2"/>
          </p:cNvCxnSpPr>
          <p:nvPr/>
        </p:nvCxnSpPr>
        <p:spPr>
          <a:xfrm flipV="1">
            <a:off x="1571625" y="3570605"/>
            <a:ext cx="0" cy="8858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10" grpId="1"/>
      <p:bldP spid="14" grpId="0"/>
      <p:bldP spid="1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Partial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3"/>
                </p:custDataLst>
              </p:nvPr>
            </p:nvSpPr>
            <p:spPr/>
            <p:txBody>
              <a:bodyPr/>
              <a:lstStyle/>
              <a:p>
                <a:r>
                  <a:rPr lang="en-US" altLang="zh-CN" sz="2400"/>
                  <a:t>Dominant cooling process at different temperatures: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130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&lt;</m:t>
                    </m:r>
                    <m:sSup>
                      <m:sSupPr>
                        <m:ctrlP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130"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altLang="zh-CN" sz="2130"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2130"/>
                  <a:t> K: 		</a:t>
                </a:r>
                <a:r>
                  <a:rPr lang="en-US" altLang="zh-CN" sz="2130">
                    <a:sym typeface="+mn-ea"/>
                  </a:rPr>
                  <a:t>bound-bound (low ionization forbidden line)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4</m:t>
                        </m:r>
                      </m:sup>
                    </m:sSup>
                    <m:r>
                      <a:rPr lang="en-US" altLang="zh-CN" sz="213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~4×</m:t>
                    </m:r>
                    <m:sSup>
                      <m:sSupPr>
                        <m:ctrlP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2130">
                    <a:sym typeface="+mn-ea"/>
                  </a:rPr>
                  <a:t> K: 	bound-bound (H collisional excitation)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13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4×</m:t>
                    </m:r>
                    <m:sSup>
                      <m:sSupPr>
                        <m:ctrlP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4</m:t>
                        </m:r>
                      </m:sup>
                    </m:sSup>
                    <m:r>
                      <a:rPr lang="en-US" altLang="zh-CN" sz="213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~4×</m:t>
                    </m:r>
                    <m:sSup>
                      <m:sSupPr>
                        <m:ctrlP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 sz="2130">
                    <a:sym typeface="+mn-ea"/>
                  </a:rPr>
                  <a:t> K: 	bound-bound (high ionization forbidden line)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13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&gt;4×</m:t>
                    </m:r>
                    <m:sSup>
                      <m:sSupPr>
                        <m:ctrlP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10</m:t>
                        </m:r>
                      </m:e>
                      <m:sup>
                        <m:r>
                          <a:rPr lang="en-US" altLang="zh-CN" sz="213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 sz="2130"/>
                  <a:t> K: 		free-free (bremsstrahlung)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6"/>
                </p:custDataLst>
              </p:nvPr>
            </p:nvSpPr>
            <p:spPr>
              <a:blipFill rotWithShape="1">
                <a:blip r:embed="rId7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FFE7A-E709-6A03-4919-61865947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SNR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B34C08-3920-0BC8-9E54-2BB86832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212" y="1103188"/>
            <a:ext cx="5778330" cy="538968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7A80EA4-FC69-505D-B9BA-F028B2A115CD}"/>
              </a:ext>
            </a:extLst>
          </p:cNvPr>
          <p:cNvSpPr txBox="1"/>
          <p:nvPr/>
        </p:nvSpPr>
        <p:spPr>
          <a:xfrm>
            <a:off x="502024" y="1690688"/>
            <a:ext cx="559397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</a:t>
            </a:r>
          </a:p>
          <a:p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grains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metallicity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cosmic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</a:t>
            </a:r>
          </a:p>
          <a:p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SNR.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5368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9C02F-94B8-3875-9E7A-40B7BF83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728" y="252982"/>
            <a:ext cx="10706819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0AA0AB-A9EB-F317-45E8-5DA5E19232ED}"/>
              </a:ext>
            </a:extLst>
          </p:cNvPr>
          <p:cNvSpPr txBox="1"/>
          <p:nvPr/>
        </p:nvSpPr>
        <p:spPr>
          <a:xfrm>
            <a:off x="879893" y="3286664"/>
            <a:ext cx="357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H-C-O-Ne-S-free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6AC9DF00-26A7-B8F3-0C99-7CC86C4B7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923" y="1307941"/>
            <a:ext cx="6849365" cy="499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00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80F80-99DE-3E42-9E98-8983EAD9E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Low-temperature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8DC592-4D58-ACE3-7F67-00C569170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903" y="1314000"/>
            <a:ext cx="7142486" cy="52827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42FD022-081A-C94F-3A36-8E547FE7920E}"/>
              </a:ext>
            </a:extLst>
          </p:cNvPr>
          <p:cNvSpPr txBox="1"/>
          <p:nvPr/>
        </p:nvSpPr>
        <p:spPr>
          <a:xfrm>
            <a:off x="537097" y="3553109"/>
            <a:ext cx="342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T&lt;10</a:t>
            </a:r>
            <a:r>
              <a:rPr kumimoji="1"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660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96CD0-E315-6E41-2A69-0A14E3A2A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238" y="365125"/>
            <a:ext cx="10571562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Grains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grains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CCE3C-2852-6C67-D37E-64B6B323B39F}"/>
              </a:ext>
            </a:extLst>
          </p:cNvPr>
          <p:cNvSpPr txBox="1"/>
          <p:nvPr/>
        </p:nvSpPr>
        <p:spPr>
          <a:xfrm>
            <a:off x="782238" y="2673251"/>
            <a:ext cx="3717168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is enhanced by dust grains in both the low- and high-temperature regimes.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0A8ECBE9-928B-364D-4AC0-45B68F450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406" y="1347688"/>
            <a:ext cx="6728575" cy="506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49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C89C3-3B59-A022-9366-E381A9AA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930" y="365125"/>
            <a:ext cx="10407869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Metallicity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F4EE13E3-DCAD-5F09-870E-3A7DA061D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022" y="1252258"/>
            <a:ext cx="7116341" cy="52690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E8A44A1-AADC-85FE-7F31-A61955F73DEF}"/>
                  </a:ext>
                </a:extLst>
              </p:cNvPr>
              <p:cNvSpPr txBox="1"/>
              <p:nvPr/>
            </p:nvSpPr>
            <p:spPr>
              <a:xfrm>
                <a:off x="712259" y="2161665"/>
                <a:ext cx="3062508" cy="2795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metallicity enhances the cooling efficiency, especially in the temperature range </a:t>
                </a:r>
                <a14:m>
                  <m:oMath xmlns:m="http://schemas.openxmlformats.org/officeDocument/2006/math">
                    <m:r>
                      <a:rPr lang="en" altLang="zh-CN" sz="2400">
                        <a:latin typeface="Cambria Math" panose="02040503050406030204" pitchFamily="18" charset="0"/>
                      </a:rPr>
                      <m:t>4.5&lt;</m:t>
                    </m:r>
                    <m:func>
                      <m:func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" altLang="zh-CN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ar-AE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func>
                    <m:r>
                      <a:rPr lang="ar-AE" altLang="zh-CN" sz="2400">
                        <a:latin typeface="Cambria Math" panose="02040503050406030204" pitchFamily="18" charset="0"/>
                      </a:rPr>
                      <m:t>&lt;6.5</m:t>
                    </m:r>
                  </m:oMath>
                </a14:m>
                <a:r>
                  <a:rPr lang="ar-AE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kumimoji="1"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E8A44A1-AADC-85FE-7F31-A61955F73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59" y="2161665"/>
                <a:ext cx="3062508" cy="2795958"/>
              </a:xfrm>
              <a:prstGeom prst="rect">
                <a:avLst/>
              </a:prstGeom>
              <a:blipFill>
                <a:blip r:embed="rId4"/>
                <a:stretch>
                  <a:fillRect l="-3306" r="-5372" b="-4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66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1520C-AEF4-75A5-F407-35FFC0B6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Cosmic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B017C1-A2B6-01E2-6D1A-89681D1669DA}"/>
              </a:ext>
            </a:extLst>
          </p:cNvPr>
          <p:cNvSpPr txBox="1"/>
          <p:nvPr/>
        </p:nvSpPr>
        <p:spPr>
          <a:xfrm>
            <a:off x="638083" y="2308020"/>
            <a:ext cx="3484418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Cosmic rays destroy molecules, thereby suppressing cooling in the low-temperature regime.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62FAED5A-7D42-A362-7811-A39481A3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501" y="1360968"/>
            <a:ext cx="7126745" cy="536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4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EB8FB-171E-02EC-7201-125EA0E00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upstream</a:t>
            </a:r>
            <a:r>
              <a:rPr kumimoji="1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ISM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A861B1E-37D8-A0B4-D145-CC3576337D75}"/>
                  </a:ext>
                </a:extLst>
              </p:cNvPr>
              <p:cNvSpPr txBox="1"/>
              <p:nvPr/>
            </p:nvSpPr>
            <p:spPr>
              <a:xfrm>
                <a:off x="804471" y="2031021"/>
                <a:ext cx="3484757" cy="2795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~1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photoionization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cosmic rays background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abundances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ISM</a:t>
                </a:r>
                <a:endParaRPr kumimoji="1"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A861B1E-37D8-A0B4-D145-CC357633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71" y="2031021"/>
                <a:ext cx="3484757" cy="2795958"/>
              </a:xfrm>
              <a:prstGeom prst="rect">
                <a:avLst/>
              </a:prstGeom>
              <a:blipFill>
                <a:blip r:embed="rId3"/>
                <a:stretch>
                  <a:fillRect l="-2909" b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E9B90D48-BB5B-4960-904D-A589CC081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228" y="1344706"/>
            <a:ext cx="7355925" cy="514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31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4E92D-11AC-275C-3181-495FD260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orward</a:t>
            </a:r>
            <a:r>
              <a:rPr lang="e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shock shell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E182E87-15A0-30E3-978E-DC306879C3EE}"/>
                  </a:ext>
                </a:extLst>
              </p:cNvPr>
              <p:cNvSpPr txBox="1"/>
              <p:nvPr/>
            </p:nvSpPr>
            <p:spPr>
              <a:xfrm>
                <a:off x="608400" y="2194532"/>
                <a:ext cx="4381880" cy="2802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~1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photoionization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kumimoji="1" lang="en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cosmic rays background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*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abundances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ISM</a:t>
                </a:r>
                <a:endParaRPr kumimoji="1"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E182E87-15A0-30E3-978E-DC306879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00" y="2194532"/>
                <a:ext cx="4381880" cy="2802242"/>
              </a:xfrm>
              <a:prstGeom prst="rect">
                <a:avLst/>
              </a:prstGeom>
              <a:blipFill>
                <a:blip r:embed="rId3"/>
                <a:stretch>
                  <a:fillRect l="-2312" b="-4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3E093388-8C2B-C654-81EB-68C4049CC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670" y="1180112"/>
            <a:ext cx="7372118" cy="554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61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404B4-EFB5-5FBD-B5CB-E3F16D73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hocked ejecta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D2D303-82D3-BC2C-066D-21CAD4DED277}"/>
                  </a:ext>
                </a:extLst>
              </p:cNvPr>
              <p:cNvSpPr txBox="1"/>
              <p:nvPr/>
            </p:nvSpPr>
            <p:spPr>
              <a:xfrm>
                <a:off x="827183" y="2020826"/>
                <a:ext cx="3996871" cy="2816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0.1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photoionization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kumimoji="1" lang="en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cosmic rays background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metallicity: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~10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⨀</m:t>
                        </m:r>
                      </m:sub>
                    </m:sSub>
                  </m:oMath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D2D303-82D3-BC2C-066D-21CAD4DE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83" y="2020826"/>
                <a:ext cx="3996871" cy="2816348"/>
              </a:xfrm>
              <a:prstGeom prst="rect">
                <a:avLst/>
              </a:prstGeom>
              <a:blipFill>
                <a:blip r:embed="rId3"/>
                <a:stretch>
                  <a:fillRect l="-2540" b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A8EA652F-D7EA-C855-EC8D-A19AFA4CD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489" y="924485"/>
            <a:ext cx="7772400" cy="571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5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B0C8C-CC02-DF82-7961-DFBF1086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jecta</a:t>
            </a:r>
            <a:r>
              <a:rPr lang="e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C155174-8D79-DCD7-8371-AFB77C9F09B9}"/>
                  </a:ext>
                </a:extLst>
              </p:cNvPr>
              <p:cNvSpPr txBox="1"/>
              <p:nvPr/>
            </p:nvSpPr>
            <p:spPr>
              <a:xfrm>
                <a:off x="882268" y="2020826"/>
                <a:ext cx="3600805" cy="2816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~0.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photoionization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kumimoji="1" lang="en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cosmic rays background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metallicity: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~10</m:t>
                    </m:r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⨀</m:t>
                        </m:r>
                      </m:sub>
                    </m:sSub>
                  </m:oMath>
                </a14:m>
                <a:endParaRPr kumimoji="1" lang="en-US" altLang="zh-CN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C155174-8D79-DCD7-8371-AFB77C9F0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68" y="2020826"/>
                <a:ext cx="3600805" cy="2816348"/>
              </a:xfrm>
              <a:prstGeom prst="rect">
                <a:avLst/>
              </a:prstGeom>
              <a:blipFill>
                <a:blip r:embed="rId3"/>
                <a:stretch>
                  <a:fillRect l="-2817" b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EA8BE593-7B11-45AA-01FB-BB76D0C20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207" y="1362974"/>
            <a:ext cx="6249278" cy="470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99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2B28B-BB2F-44D5-A031-5ED98B3C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388202-9EE3-442B-CC1A-A5CED5238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is dominated by molecular processes at log T &lt; 4.0, by atomic line emission from elements such as C, O, Ne, and S at 4.0 &lt; log T &lt; 7.5, and by free–free emission at log T &gt; 7.5.</a:t>
            </a:r>
          </a:p>
          <a:p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grains enhance the cooling efficiency at log T &lt; 4.0 and log T &gt; 5.5.</a:t>
            </a:r>
          </a:p>
          <a:p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metallicity leads to higher cooling efficiency.</a:t>
            </a:r>
          </a:p>
          <a:p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Cosmic rays suppress cooling at log T &lt; 4.0.</a:t>
            </a:r>
          </a:p>
          <a:p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regions within the SNR exhibit distinct physical conditions and cooling functions.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5404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AB1AF1-C2CD-2910-447E-B0E8DC009868}"/>
              </a:ext>
            </a:extLst>
          </p:cNvPr>
          <p:cNvSpPr txBox="1"/>
          <p:nvPr/>
        </p:nvSpPr>
        <p:spPr>
          <a:xfrm>
            <a:off x="3988107" y="3044279"/>
            <a:ext cx="59711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endParaRPr kumimoji="1"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Times New Roman"/>
        <a:cs typeface=""/>
      </a:majorFont>
      <a:minorFont>
        <a:latin typeface="Times New Roman"/>
        <a:ea typeface="Times New Roman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Times New Roman"/>
        <a:ea typeface="Times New Roman"/>
        <a:cs typeface=""/>
      </a:majorFont>
      <a:minorFont>
        <a:latin typeface="Times New Roman"/>
        <a:ea typeface="Times New Rom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Times New Roman"/>
        <a:ea typeface="Times New Roman"/>
        <a:cs typeface=""/>
      </a:majorFont>
      <a:minorFont>
        <a:latin typeface="Times New Roman"/>
        <a:ea typeface="Times New Rom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2602</Words>
  <Application>Microsoft Macintosh PowerPoint</Application>
  <PresentationFormat>宽屏</PresentationFormat>
  <Paragraphs>316</Paragraphs>
  <Slides>34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DejaVu Math TeX Gyre</vt:lpstr>
      <vt:lpstr>Arial</vt:lpstr>
      <vt:lpstr>Cambria Math</vt:lpstr>
      <vt:lpstr>Times New Roman</vt:lpstr>
      <vt:lpstr>Wingdings</vt:lpstr>
      <vt:lpstr>WPS</vt:lpstr>
      <vt:lpstr>Use Cloudy to calculate the detailed cooling function of gas in different ISM conditions</vt:lpstr>
      <vt:lpstr>Contents</vt:lpstr>
      <vt:lpstr>Cooling Process</vt:lpstr>
      <vt:lpstr>Cooling Function</vt:lpstr>
      <vt:lpstr>Cloudy</vt:lpstr>
      <vt:lpstr>Cloudy</vt:lpstr>
      <vt:lpstr>Cloudy</vt:lpstr>
      <vt:lpstr>Our Work: </vt:lpstr>
      <vt:lpstr>AGN Broad Line Region (BLR): </vt:lpstr>
      <vt:lpstr>Cloudy results——1. Depth</vt:lpstr>
      <vt:lpstr>Cloudy results——1. Depth</vt:lpstr>
      <vt:lpstr>Cloudy results——1. Depth</vt:lpstr>
      <vt:lpstr>2. Ionization Parameter</vt:lpstr>
      <vt:lpstr>2. Ionization Parameter</vt:lpstr>
      <vt:lpstr>3. S-curve</vt:lpstr>
      <vt:lpstr>Partial Summary</vt:lpstr>
      <vt:lpstr>Cooling Function of HII region</vt:lpstr>
      <vt:lpstr>existence of grains</vt:lpstr>
      <vt:lpstr>abundance</vt:lpstr>
      <vt:lpstr>blackbody temperature</vt:lpstr>
      <vt:lpstr>ionizing photon flux and hydrogen density</vt:lpstr>
      <vt:lpstr>Partial Summary</vt:lpstr>
      <vt:lpstr>Physic of SNR</vt:lpstr>
      <vt:lpstr>Dominant elements</vt:lpstr>
      <vt:lpstr>Low-temperature</vt:lpstr>
      <vt:lpstr>Grains and no grains</vt:lpstr>
      <vt:lpstr>Metallicity</vt:lpstr>
      <vt:lpstr>Cosmic ray</vt:lpstr>
      <vt:lpstr>Far upstream ISM</vt:lpstr>
      <vt:lpstr>Forward shock shell</vt:lpstr>
      <vt:lpstr>Shocked ejecta</vt:lpstr>
      <vt:lpstr>Ejecta core</vt:lpstr>
      <vt:lpstr>Conclusion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HG1014</cp:lastModifiedBy>
  <cp:revision>207</cp:revision>
  <dcterms:created xsi:type="dcterms:W3CDTF">2026-01-01T10:04:27Z</dcterms:created>
  <dcterms:modified xsi:type="dcterms:W3CDTF">2026-01-02T03:15:31Z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D2F47A86899F2F64C2C33F69950ED2B8_41</vt:lpwstr>
  </property>
</Properties>
</file>